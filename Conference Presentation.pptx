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0" r:id="rId5"/>
    <p:sldId id="269" r:id="rId6"/>
    <p:sldId id="266" r:id="rId7"/>
    <p:sldId id="267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B6AF-F3DA-4C8F-701C-A289AC37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8D08D-640A-E09E-5BC1-0FB374DA3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8E685-45BA-CABC-4567-35DE73AA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30DD-23A6-7A16-E886-86B9C55E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2E86-A2FC-C59A-5C44-6848F7AC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0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969E-F278-43A2-D484-F7657789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F16C-34F2-8478-0F5A-3EA696CA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D24B6-D5B1-C0E2-5EB0-397FD2AE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E400-F960-C05B-7090-33C2A1DD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3F10-4631-8951-273A-0DB9E16B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46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1FCB-1762-FE54-9614-E7F250C1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C84B3-5C68-D9E7-C64F-CFA5B58DF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2044-8968-CA91-1311-971B6B33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421B-27CD-0869-0B95-33F866DD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60D9B-F60C-C992-D67E-AA7D75B3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99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8C98-A729-52D4-27A7-8219D486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6314-7BC7-98FB-7BCE-6411A2F85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29425-3202-8694-DB9C-B27F57ABB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126C2-EE1B-59C2-EE9A-28D5BDAF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73872-D203-2EFB-5194-50A4B5C9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4602F-B8F2-CC35-8130-4751369D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1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76D0-940D-C1E8-7543-5C001F9A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0F137-E04E-3B29-AEFF-239B7CF6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777B2-8340-0D48-8673-430D9A7C6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CB7C9-6F37-6B20-85B3-1EEB61FFA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8C7A1-DADA-57AB-ACFC-97CF6AFE0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CE71A-53CB-56DB-C5E0-AE478020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3B5A7-B082-F1E3-DD41-864400CD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BABEF-81D3-AB2B-2CB5-758DFBF9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1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7AD5-FCD0-D43E-2C3E-39D9E505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924E9-C0CE-9719-562F-CA84244F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38A05-3E4E-3C65-7ACF-8ABF2EB8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D0B41-5A51-1CDD-35BB-23550B15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43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E6D4C-DA10-D3FB-795C-C5F4EFC0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A5445-520B-887B-BA86-EE62A18E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BED6-456A-7155-8FE4-E2C06D93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20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5570-7618-4194-5CE6-CEA907B5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8F20-7627-9FCA-9C09-62867B10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EEF8E-FA68-B295-5803-D260AE840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8ACF5-5987-256F-D76A-0A957026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1BA8B-F67A-D01E-EEC9-AEE8CB91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D9921-36B4-F37F-E5A7-8A6FF93E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74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CCA4-B0B1-2C7F-6060-C2BC23F3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EEFC6-C19C-9652-6181-B73493968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42B03-82A1-F6DF-DB0C-71C44EC84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681B2-630E-9150-C589-2A2C2003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75E3B-E3CC-D3E0-2411-50FB9D1E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CAE0-286B-695F-F517-9B36D534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49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F035-808F-D8F5-83BE-569CA1CB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29409-2618-A3AF-2E9E-9B41DB689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82F6-C02A-6C8A-B001-BF98F117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F5028-5C9C-436C-2F43-2DD4367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0E048-E583-286D-ADF2-2C5B923C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58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32D25-7010-1B77-3391-3AB59EB63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D5C76-13EC-0C5B-48EB-EC0831488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D79EE-A46D-BE0A-D4A7-D2934061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A0849-BB69-C9B3-4907-5F5B72E0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AEAF0-3376-E77A-1F62-30733F53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47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0FE3F-6AB2-4820-6EB2-95C3690D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A239B-0B52-1EAD-3765-27A7BA0C4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776B-116C-9E40-3699-E48C48069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97C13-7852-4422-BE33-ED33439C12C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614DE-0A2A-389B-7875-08C38CD6A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BA365-EE4D-704C-1FBF-D00628BDC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4332F-7505-45E3-ACE4-17D1B7F46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9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8840-744F-3DB1-56A7-F43A9655E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Automating goal-based adaptive mesh refinement for engineering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31741-D197-79C8-DECF-C2B588BE93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Joe Flood</a:t>
            </a:r>
          </a:p>
        </p:txBody>
      </p:sp>
    </p:spTree>
    <p:extLst>
      <p:ext uri="{BB962C8B-B14F-4D97-AF65-F5344CB8AC3E}">
        <p14:creationId xmlns:p14="http://schemas.microsoft.com/office/powerpoint/2010/main" val="151744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B088-6698-A78F-503F-96B18EF2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Engineers care about local outputs</a:t>
            </a:r>
          </a:p>
        </p:txBody>
      </p:sp>
      <p:pic>
        <p:nvPicPr>
          <p:cNvPr id="1026" name="Picture 2" descr="Aerodynamics &amp; Flight Mechanics, 0 | by Anirudh Singh | Medium">
            <a:extLst>
              <a:ext uri="{FF2B5EF4-FFF2-40B4-BE49-F238E27FC236}">
                <a16:creationId xmlns:a16="http://schemas.microsoft.com/office/drawing/2014/main" id="{10B8F86F-6629-BA9B-D7C1-45531568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5015"/>
            <a:ext cx="5060122" cy="287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A94D9-CC34-BACF-5AB0-464C466261DE}"/>
              </a:ext>
            </a:extLst>
          </p:cNvPr>
          <p:cNvSpPr txBox="1"/>
          <p:nvPr/>
        </p:nvSpPr>
        <p:spPr>
          <a:xfrm>
            <a:off x="1680975" y="5748756"/>
            <a:ext cx="3374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Lift, drag</a:t>
            </a:r>
          </a:p>
        </p:txBody>
      </p:sp>
      <p:pic>
        <p:nvPicPr>
          <p:cNvPr id="1030" name="Picture 6" descr="FEA Software Definition with Simulation Examples">
            <a:extLst>
              <a:ext uri="{FF2B5EF4-FFF2-40B4-BE49-F238E27FC236}">
                <a16:creationId xmlns:a16="http://schemas.microsoft.com/office/drawing/2014/main" id="{9ADE9FF3-BD92-71A6-453C-6CF1B19C0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156" y="2942524"/>
            <a:ext cx="4497917" cy="255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2A9B1B-3601-F95E-6B06-7B08F084F794}"/>
              </a:ext>
            </a:extLst>
          </p:cNvPr>
          <p:cNvSpPr txBox="1"/>
          <p:nvPr/>
        </p:nvSpPr>
        <p:spPr>
          <a:xfrm>
            <a:off x="7085828" y="5748756"/>
            <a:ext cx="3374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Avg. stress on surface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1714B-333D-CFBC-72B5-03C62DA31842}"/>
              </a:ext>
            </a:extLst>
          </p:cNvPr>
          <p:cNvSpPr txBox="1"/>
          <p:nvPr/>
        </p:nvSpPr>
        <p:spPr>
          <a:xfrm>
            <a:off x="838200" y="1839686"/>
            <a:ext cx="602216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Engineers don’t care about the entire solution field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Understanding the potential error is important</a:t>
            </a:r>
          </a:p>
        </p:txBody>
      </p:sp>
    </p:spTree>
    <p:extLst>
      <p:ext uri="{BB962C8B-B14F-4D97-AF65-F5344CB8AC3E}">
        <p14:creationId xmlns:p14="http://schemas.microsoft.com/office/powerpoint/2010/main" val="175135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C3FD-FDC3-5414-7B42-52D34CBE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Finite element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1125-2D45-21B8-5EE3-05F744445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Differential operator: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𝐿𝑢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dirty="0"/>
                  <a:t>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Accuracy depends on the mesh size (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000" dirty="0"/>
                  <a:t>)</a:t>
                </a:r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51125-2D45-21B8-5EE3-05F744445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10D0AB8-1219-ED8B-49D2-E5362754FC6F}"/>
              </a:ext>
            </a:extLst>
          </p:cNvPr>
          <p:cNvSpPr/>
          <p:nvPr/>
        </p:nvSpPr>
        <p:spPr>
          <a:xfrm>
            <a:off x="3559628" y="4158343"/>
            <a:ext cx="5072743" cy="2018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Linear interpolation figure, showing different # points</a:t>
            </a:r>
          </a:p>
        </p:txBody>
      </p:sp>
    </p:spTree>
    <p:extLst>
      <p:ext uri="{BB962C8B-B14F-4D97-AF65-F5344CB8AC3E}">
        <p14:creationId xmlns:p14="http://schemas.microsoft.com/office/powerpoint/2010/main" val="381465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2ED9-A8E3-E02B-3FBA-C9792478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Solution: Goal-based adaptive meshing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62B21-65BB-0973-9A61-A912D460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Define goal functional</a:t>
            </a:r>
          </a:p>
          <a:p>
            <a:endParaRPr lang="en-GB" sz="2000" dirty="0"/>
          </a:p>
          <a:p>
            <a:r>
              <a:rPr lang="en-GB" sz="2000" dirty="0"/>
              <a:t>Aim 1: </a:t>
            </a:r>
            <a:r>
              <a:rPr lang="en-GB" sz="2000" dirty="0">
                <a:solidFill>
                  <a:schemeClr val="accent6"/>
                </a:solidFill>
              </a:rPr>
              <a:t>Estimate error</a:t>
            </a:r>
          </a:p>
          <a:p>
            <a:r>
              <a:rPr lang="en-GB" sz="2000" dirty="0"/>
              <a:t>Aim 2: </a:t>
            </a:r>
            <a:r>
              <a:rPr lang="en-GB" sz="2000" dirty="0">
                <a:solidFill>
                  <a:srgbClr val="00B0F0"/>
                </a:solidFill>
              </a:rPr>
              <a:t>Control error </a:t>
            </a:r>
          </a:p>
          <a:p>
            <a:endParaRPr lang="en-GB" sz="2000" dirty="0">
              <a:solidFill>
                <a:srgbClr val="00B0F0"/>
              </a:solidFill>
            </a:endParaRPr>
          </a:p>
          <a:p>
            <a:r>
              <a:rPr lang="en-GB" sz="2000" dirty="0"/>
              <a:t>How to control? Adapt mesh!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08D21-9F51-5A2A-82A7-91E1E510012F}"/>
                  </a:ext>
                </a:extLst>
              </p:cNvPr>
              <p:cNvSpPr txBox="1"/>
              <p:nvPr/>
            </p:nvSpPr>
            <p:spPr>
              <a:xfrm>
                <a:off x="4686300" y="1690688"/>
                <a:ext cx="2819400" cy="737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708D21-9F51-5A2A-82A7-91E1E510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1690688"/>
                <a:ext cx="2819400" cy="7378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0AB88-3DEA-EC44-0B7D-00BD2270B7C8}"/>
                  </a:ext>
                </a:extLst>
              </p:cNvPr>
              <p:cNvSpPr txBox="1"/>
              <p:nvPr/>
            </p:nvSpPr>
            <p:spPr>
              <a:xfrm>
                <a:off x="4686300" y="2744890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0AB88-3DEA-EC44-0B7D-00BD2270B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2744890"/>
                <a:ext cx="281940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DF4A2252-36C8-6BD7-4F1F-C5CB5D06C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212262" y="3285770"/>
            <a:ext cx="2365231" cy="341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3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E49F-FE04-1933-D247-700F254E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Current problems with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1557-58E6-19D3-347D-C149EBA60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1350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549A73-7052-601B-D2EA-53CD55ECA2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3600" dirty="0"/>
                  <a:t>How to estimate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GB" sz="3600" dirty="0"/>
                  <a:t>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549A73-7052-601B-D2EA-53CD55ECA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B4E59-28F0-D8CE-7703-1D93CAB92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b="0" dirty="0"/>
                  <a:t>Residual: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Define dual problem:</a:t>
                </a:r>
              </a:p>
              <a:p>
                <a:endParaRPr lang="en-GB" sz="2400" b="0" dirty="0"/>
              </a:p>
              <a:p>
                <a:r>
                  <a:rPr lang="en-GB" sz="2400" dirty="0"/>
                  <a:t>Derivation: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sz="2400" b="0" dirty="0"/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B4E59-28F0-D8CE-7703-1D93CAB92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48A24A-43A4-2E6F-9E9F-156042D4D9FD}"/>
                  </a:ext>
                </a:extLst>
              </p:cNvPr>
              <p:cNvSpPr txBox="1"/>
              <p:nvPr/>
            </p:nvSpPr>
            <p:spPr>
              <a:xfrm>
                <a:off x="3048000" y="1809173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48A24A-43A4-2E6F-9E9F-156042D4D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809173"/>
                <a:ext cx="6096000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2A3C2-8F10-65CF-C3B9-D454CBD633A6}"/>
                  </a:ext>
                </a:extLst>
              </p:cNvPr>
              <p:cNvSpPr txBox="1"/>
              <p:nvPr/>
            </p:nvSpPr>
            <p:spPr>
              <a:xfrm>
                <a:off x="3048000" y="2716051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2A3C2-8F10-65CF-C3B9-D454CBD63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716051"/>
                <a:ext cx="6096000" cy="461665"/>
              </a:xfrm>
              <a:prstGeom prst="rect">
                <a:avLst/>
              </a:prstGeom>
              <a:blipFill>
                <a:blip r:embed="rId5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92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B84D-C922-947D-D359-60FDAB5CD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Automated error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12A58-8262-DFDA-BC83-E080CA51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46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CEF0-0174-1ABB-284A-F678543E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Automated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660E-CA7C-6B58-CB46-A5F87E490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01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D239-FCD1-B46E-B390-EFCFE63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B3AE4-558E-5C97-44AE-A21682238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82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12330</TotalTime>
  <Words>169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Automating goal-based adaptive mesh refinement for engineering problems</vt:lpstr>
      <vt:lpstr>Engineers care about local outputs</vt:lpstr>
      <vt:lpstr>Finite element methods</vt:lpstr>
      <vt:lpstr>Solution: Goal-based adaptive meshing</vt:lpstr>
      <vt:lpstr>Current problems with implementation</vt:lpstr>
      <vt:lpstr>How to estimate η?</vt:lpstr>
      <vt:lpstr>Automated error indicators</vt:lpstr>
      <vt:lpstr>Automated algorithm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Flood</dc:creator>
  <cp:lastModifiedBy>Joe Flood</cp:lastModifiedBy>
  <cp:revision>2</cp:revision>
  <dcterms:created xsi:type="dcterms:W3CDTF">2026-03-16T18:02:10Z</dcterms:created>
  <dcterms:modified xsi:type="dcterms:W3CDTF">2026-03-25T07:32:13Z</dcterms:modified>
</cp:coreProperties>
</file>