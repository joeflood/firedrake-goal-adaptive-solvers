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3" r:id="rId4"/>
    <p:sldId id="260" r:id="rId5"/>
    <p:sldId id="266" r:id="rId6"/>
    <p:sldId id="270" r:id="rId7"/>
    <p:sldId id="267" r:id="rId8"/>
    <p:sldId id="268" r:id="rId9"/>
    <p:sldId id="272" r:id="rId10"/>
    <p:sldId id="280" r:id="rId11"/>
    <p:sldId id="275" r:id="rId12"/>
    <p:sldId id="278" r:id="rId13"/>
    <p:sldId id="276" r:id="rId14"/>
    <p:sldId id="264" r:id="rId15"/>
    <p:sldId id="282" r:id="rId16"/>
    <p:sldId id="279" r:id="rId17"/>
    <p:sldId id="281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63" autoAdjust="0"/>
    <p:restoredTop sz="94660"/>
  </p:normalViewPr>
  <p:slideViewPr>
    <p:cSldViewPr snapToGrid="0">
      <p:cViewPr varScale="1">
        <p:scale>
          <a:sx n="70" d="100"/>
          <a:sy n="70" d="100"/>
        </p:scale>
        <p:origin x="3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F8E289-4790-40FC-B6BE-F831150FC0BE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C2CDA4-D0AF-4A71-A4D7-EF315C83F1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5525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1. An optimal control approach to a posteriori error control. R. </a:t>
            </a:r>
            <a:r>
              <a:rPr lang="en-GB" dirty="0" err="1"/>
              <a:t>Rannacher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2CDA4-D0AF-4A71-A4D7-EF315C83F14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746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Talk about how this has to be done manually for each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2CDA4-D0AF-4A71-A4D7-EF315C83F14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753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CB6AF-F3DA-4C8F-701C-A289AC37B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98D08D-640A-E09E-5BC1-0FB374DA39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8E685-45BA-CABC-4567-35DE73AA5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7C13-7852-4422-BE33-ED33439C12CA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830DD-23A6-7A16-E886-86B9C55ED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42E86-A2FC-C59A-5C44-6848F7AC5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4332F-7505-45E3-ACE4-17D1B7F46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3604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2969E-F278-43A2-D484-F76577898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7F16C-34F2-8478-0F5A-3EA696CAC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D24B6-D5B1-C0E2-5EB0-397FD2AE8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7C13-7852-4422-BE33-ED33439C12CA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AE400-F960-C05B-7090-33C2A1DD6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53F10-4631-8951-273A-0DB9E16B3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4332F-7505-45E3-ACE4-17D1B7F46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7461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E1FCB-1762-FE54-9614-E7F250C1D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C84B3-5C68-D9E7-C64F-CFA5B58DF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F2044-8968-CA91-1311-971B6B330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7C13-7852-4422-BE33-ED33439C12CA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3421B-27CD-0869-0B95-33F866DD6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60D9B-F60C-C992-D67E-AA7D75B3E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4332F-7505-45E3-ACE4-17D1B7F46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0993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18C98-A729-52D4-27A7-8219D4861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46314-7BC7-98FB-7BCE-6411A2F85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29425-3202-8694-DB9C-B27F57ABB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126C2-EE1B-59C2-EE9A-28D5BDAFB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7C13-7852-4422-BE33-ED33439C12CA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273872-D203-2EFB-5194-50A4B5C9C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4602F-B8F2-CC35-8130-4751369D6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4332F-7505-45E3-ACE4-17D1B7F46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619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B76D0-940D-C1E8-7543-5C001F9AA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D0F137-E04E-3B29-AEFF-239B7CF62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A777B2-8340-0D48-8673-430D9A7C6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DCB7C9-6F37-6B20-85B3-1EEB61FFAF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F8C7A1-DADA-57AB-ACFC-97CF6AFE04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4CE71A-53CB-56DB-C5E0-AE478020E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7C13-7852-4422-BE33-ED33439C12CA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23B5A7-B082-F1E3-DD41-864400CD0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6BABEF-81D3-AB2B-2CB5-758DFBF9A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4332F-7505-45E3-ACE4-17D1B7F46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5813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D7AD5-FCD0-D43E-2C3E-39D9E5059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2924E9-C0CE-9719-562F-CA84244FD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7C13-7852-4422-BE33-ED33439C12CA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038A05-3E4E-3C65-7ACF-8ABF2EB85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3D0B41-5A51-1CDD-35BB-23550B152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4332F-7505-45E3-ACE4-17D1B7F46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430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E6D4C-DA10-D3FB-795C-C5F4EFC02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7C13-7852-4422-BE33-ED33439C12CA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1A5445-520B-887B-BA86-EE62A18EA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8BED6-456A-7155-8FE4-E2C06D936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4332F-7505-45E3-ACE4-17D1B7F46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7200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85570-7618-4194-5CE6-CEA907B50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E8F20-7627-9FCA-9C09-62867B104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2EEF8E-FA68-B295-5803-D260AE840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8ACF5-5987-256F-D76A-0A9570262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7C13-7852-4422-BE33-ED33439C12CA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1BA8B-F67A-D01E-EEC9-AEE8CB91B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D9921-36B4-F37F-E5A7-8A6FF93E7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4332F-7505-45E3-ACE4-17D1B7F46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7749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8CCA4-B0B1-2C7F-6060-C2BC23F33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9EEFC6-C19C-9652-6181-B73493968F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442B03-82A1-F6DF-DB0C-71C44EC84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681B2-630E-9150-C589-2A2C20039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7C13-7852-4422-BE33-ED33439C12CA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75E3B-E3CC-D3E0-2411-50FB9D1EE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9CAE0-286B-695F-F517-9B36D5349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4332F-7505-45E3-ACE4-17D1B7F46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498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CF035-808F-D8F5-83BE-569CA1CB1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F29409-2618-A3AF-2E9E-9B41DB689A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982F6-C02A-6C8A-B001-BF98F117A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7C13-7852-4422-BE33-ED33439C12CA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F5028-5C9C-436C-2F43-2DD43672C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0E048-E583-286D-ADF2-2C5B923C1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4332F-7505-45E3-ACE4-17D1B7F46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583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132D25-7010-1B77-3391-3AB59EB634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D5C76-13EC-0C5B-48EB-EC0831488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D79EE-A46D-BE0A-D4A7-D2934061D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7C13-7852-4422-BE33-ED33439C12CA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A0849-BB69-C9B3-4907-5F5B72E04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AEAF0-3376-E77A-1F62-30733F53D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4332F-7505-45E3-ACE4-17D1B7F46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9477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10FE3F-6AB2-4820-6EB2-95C3690D7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A239B-0B52-1EAD-3765-27A7BA0C4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2776B-116C-9E40-3699-E48C480696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E97C13-7852-4422-BE33-ED33439C12CA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614DE-0A2A-389B-7875-08C38CD6A7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BA365-EE4D-704C-1FBF-D00628BDC5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A4332F-7505-45E3-ACE4-17D1B7F46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895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78840-744F-3DB1-56A7-F43A9655E5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Automating goal-based adaptive mesh refinement for engineering problems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131741-D197-79C8-DECF-C2B588BE93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Joe Flood</a:t>
            </a:r>
          </a:p>
        </p:txBody>
      </p:sp>
    </p:spTree>
    <p:extLst>
      <p:ext uri="{BB962C8B-B14F-4D97-AF65-F5344CB8AC3E}">
        <p14:creationId xmlns:p14="http://schemas.microsoft.com/office/powerpoint/2010/main" val="151744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7B088-6698-A78F-503F-96B18EF26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Motivation: Engineering simulation</a:t>
            </a:r>
          </a:p>
        </p:txBody>
      </p:sp>
      <p:pic>
        <p:nvPicPr>
          <p:cNvPr id="1026" name="Picture 2" descr="Aerodynamics &amp; Flight Mechanics, 0 | by Anirudh Singh | Medium">
            <a:extLst>
              <a:ext uri="{FF2B5EF4-FFF2-40B4-BE49-F238E27FC236}">
                <a16:creationId xmlns:a16="http://schemas.microsoft.com/office/drawing/2014/main" id="{10B8F86F-6629-BA9B-D7C1-45531568C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635015"/>
            <a:ext cx="5060122" cy="2871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AA94D9-CC34-BACF-5AB0-464C466261DE}"/>
              </a:ext>
            </a:extLst>
          </p:cNvPr>
          <p:cNvSpPr txBox="1"/>
          <p:nvPr/>
        </p:nvSpPr>
        <p:spPr>
          <a:xfrm>
            <a:off x="1680975" y="5748756"/>
            <a:ext cx="3374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Lift, drag</a:t>
            </a:r>
          </a:p>
        </p:txBody>
      </p:sp>
      <p:pic>
        <p:nvPicPr>
          <p:cNvPr id="1030" name="Picture 6" descr="FEA Software Definition with Simulation Examples">
            <a:extLst>
              <a:ext uri="{FF2B5EF4-FFF2-40B4-BE49-F238E27FC236}">
                <a16:creationId xmlns:a16="http://schemas.microsoft.com/office/drawing/2014/main" id="{9ADE9FF3-BD92-71A6-453C-6CF1B19C0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156" y="2942524"/>
            <a:ext cx="4497917" cy="2553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2A9B1B-3601-F95E-6B06-7B08F084F794}"/>
              </a:ext>
            </a:extLst>
          </p:cNvPr>
          <p:cNvSpPr txBox="1"/>
          <p:nvPr/>
        </p:nvSpPr>
        <p:spPr>
          <a:xfrm>
            <a:off x="7085828" y="5748756"/>
            <a:ext cx="3374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Avg. stress on surface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D1714B-333D-CFBC-72B5-03C62DA31842}"/>
              </a:ext>
            </a:extLst>
          </p:cNvPr>
          <p:cNvSpPr txBox="1"/>
          <p:nvPr/>
        </p:nvSpPr>
        <p:spPr>
          <a:xfrm>
            <a:off x="838200" y="1839686"/>
            <a:ext cx="931312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000" dirty="0"/>
              <a:t>Engineers care about Quantities of Interest </a:t>
            </a:r>
            <a:r>
              <a:rPr lang="en-GB" sz="2000" b="1" dirty="0"/>
              <a:t>(</a:t>
            </a:r>
            <a:r>
              <a:rPr lang="en-GB" sz="2000" b="1" dirty="0" err="1"/>
              <a:t>QoIs</a:t>
            </a:r>
            <a:r>
              <a:rPr lang="en-GB" sz="2000" b="1" dirty="0"/>
              <a:t>) </a:t>
            </a:r>
            <a:r>
              <a:rPr lang="en-GB" sz="2000" dirty="0"/>
              <a:t>– not the entire solution field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000" dirty="0"/>
              <a:t>Understanding the error in </a:t>
            </a:r>
            <a:r>
              <a:rPr lang="en-GB" sz="2000" dirty="0" err="1"/>
              <a:t>QoIs</a:t>
            </a:r>
            <a:r>
              <a:rPr lang="en-GB" sz="2000" dirty="0"/>
              <a:t> is important</a:t>
            </a:r>
          </a:p>
        </p:txBody>
      </p:sp>
    </p:spTree>
    <p:extLst>
      <p:ext uri="{BB962C8B-B14F-4D97-AF65-F5344CB8AC3E}">
        <p14:creationId xmlns:p14="http://schemas.microsoft.com/office/powerpoint/2010/main" val="1751354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AC3FD-FDC3-5414-7B42-52D34CBE4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Background: Finite element methods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A51125-2D45-21B8-5EE3-05F7444456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:r>
                  <a:rPr lang="en-GB" sz="2000" dirty="0"/>
                  <a:t>Accuracy depends on the mesh size (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sz="2000" dirty="0"/>
                  <a:t>):</a:t>
                </a:r>
              </a:p>
              <a:p>
                <a:pPr marL="0" indent="0">
                  <a:buNone/>
                </a:pPr>
                <a:endParaRPr lang="en-GB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A51125-2D45-21B8-5EE3-05F7444456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504319-AD9D-3FAD-1CA7-B9192C58FCDC}"/>
                  </a:ext>
                </a:extLst>
              </p:cNvPr>
              <p:cNvSpPr txBox="1"/>
              <p:nvPr/>
            </p:nvSpPr>
            <p:spPr>
              <a:xfrm>
                <a:off x="8535415" y="2387929"/>
                <a:ext cx="195676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504319-AD9D-3FAD-1CA7-B9192C58F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5415" y="2387929"/>
                <a:ext cx="1956761" cy="400110"/>
              </a:xfrm>
              <a:prstGeom prst="rect">
                <a:avLst/>
              </a:prstGeom>
              <a:blipFill>
                <a:blip r:embed="rId3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E1C234-C1C4-07F9-725F-C05B202B675E}"/>
                  </a:ext>
                </a:extLst>
              </p:cNvPr>
              <p:cNvSpPr txBox="1"/>
              <p:nvPr/>
            </p:nvSpPr>
            <p:spPr>
              <a:xfrm>
                <a:off x="391601" y="2387929"/>
                <a:ext cx="110642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E1C234-C1C4-07F9-725F-C05B202B6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601" y="2387929"/>
                <a:ext cx="1106424" cy="400110"/>
              </a:xfrm>
              <a:prstGeom prst="rect">
                <a:avLst/>
              </a:prstGeom>
              <a:blipFill>
                <a:blip r:embed="rId4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C86FC69-26E1-194A-4496-1CAD98D21B84}"/>
              </a:ext>
            </a:extLst>
          </p:cNvPr>
          <p:cNvCxnSpPr>
            <a:cxnSpLocks/>
          </p:cNvCxnSpPr>
          <p:nvPr/>
        </p:nvCxnSpPr>
        <p:spPr>
          <a:xfrm>
            <a:off x="1631267" y="2585482"/>
            <a:ext cx="866013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C5D842D-DFD1-5850-418B-93170DAB8D90}"/>
              </a:ext>
            </a:extLst>
          </p:cNvPr>
          <p:cNvSpPr txBox="1"/>
          <p:nvPr/>
        </p:nvSpPr>
        <p:spPr>
          <a:xfrm>
            <a:off x="7484760" y="2863934"/>
            <a:ext cx="1771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Quadrature (assembly)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560EA5D-5000-8CAA-C51E-ECBCAF84E717}"/>
                  </a:ext>
                </a:extLst>
              </p:cNvPr>
              <p:cNvSpPr txBox="1"/>
              <p:nvPr/>
            </p:nvSpPr>
            <p:spPr>
              <a:xfrm>
                <a:off x="10999949" y="2379537"/>
                <a:ext cx="88468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560EA5D-5000-8CAA-C51E-ECBCAF84E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9949" y="2379537"/>
                <a:ext cx="884682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1B9D7732-6405-AB9A-533D-480CF27BD8A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7076"/>
          <a:stretch>
            <a:fillRect/>
          </a:stretch>
        </p:blipFill>
        <p:spPr>
          <a:xfrm>
            <a:off x="3196469" y="4608919"/>
            <a:ext cx="5634555" cy="18379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677D6C2-7EA1-37C9-0FCB-D3549B204939}"/>
                  </a:ext>
                </a:extLst>
              </p:cNvPr>
              <p:cNvSpPr txBox="1"/>
              <p:nvPr/>
            </p:nvSpPr>
            <p:spPr>
              <a:xfrm>
                <a:off x="2529290" y="2387929"/>
                <a:ext cx="207718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⟨"/>
                          <m:endChr m:val="⟩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677D6C2-7EA1-37C9-0FCB-D3549B204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9290" y="2387929"/>
                <a:ext cx="2077185" cy="400110"/>
              </a:xfrm>
              <a:prstGeom prst="rect">
                <a:avLst/>
              </a:prstGeom>
              <a:blipFill>
                <a:blip r:embed="rId7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9B5FAF9A-98C1-F9BF-5533-A49D127B71FB}"/>
              </a:ext>
            </a:extLst>
          </p:cNvPr>
          <p:cNvSpPr txBox="1"/>
          <p:nvPr/>
        </p:nvSpPr>
        <p:spPr>
          <a:xfrm>
            <a:off x="1025680" y="2821370"/>
            <a:ext cx="20771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Weaken differentiability</a:t>
            </a:r>
          </a:p>
          <a:p>
            <a:pPr algn="ctr"/>
            <a:r>
              <a:rPr lang="en-GB" dirty="0">
                <a:solidFill>
                  <a:srgbClr val="FF0000"/>
                </a:solidFill>
              </a:rPr>
              <a:t>requirements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FF982F-FEB0-4EEB-BF85-677BFCA03461}"/>
              </a:ext>
            </a:extLst>
          </p:cNvPr>
          <p:cNvSpPr txBox="1"/>
          <p:nvPr/>
        </p:nvSpPr>
        <p:spPr>
          <a:xfrm>
            <a:off x="3991383" y="2821370"/>
            <a:ext cx="20771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Approximate on finite-dimensional function space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DA33900-787B-C1EC-3F2E-80BAA607193D}"/>
                  </a:ext>
                </a:extLst>
              </p:cNvPr>
              <p:cNvSpPr txBox="1"/>
              <p:nvPr/>
            </p:nvSpPr>
            <p:spPr>
              <a:xfrm>
                <a:off x="5566160" y="2393990"/>
                <a:ext cx="218134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⟨"/>
                          <m:endChr m:val="⟩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DA33900-787B-C1EC-3F2E-80BAA6071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6160" y="2393990"/>
                <a:ext cx="2181345" cy="400110"/>
              </a:xfrm>
              <a:prstGeom prst="rect">
                <a:avLst/>
              </a:prstGeom>
              <a:blipFill>
                <a:blip r:embed="rId8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6481A12-C2B0-1F37-2962-53BBD11AC453}"/>
              </a:ext>
            </a:extLst>
          </p:cNvPr>
          <p:cNvCxnSpPr>
            <a:cxnSpLocks/>
          </p:cNvCxnSpPr>
          <p:nvPr/>
        </p:nvCxnSpPr>
        <p:spPr>
          <a:xfrm>
            <a:off x="4579648" y="2585482"/>
            <a:ext cx="866013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7AEB7F8-3F44-353B-3D84-ED3B4A33A8AE}"/>
              </a:ext>
            </a:extLst>
          </p:cNvPr>
          <p:cNvCxnSpPr>
            <a:cxnSpLocks/>
          </p:cNvCxnSpPr>
          <p:nvPr/>
        </p:nvCxnSpPr>
        <p:spPr>
          <a:xfrm>
            <a:off x="7937579" y="2594045"/>
            <a:ext cx="866013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BFE6E68-CE34-1875-1E59-42F39E80070A}"/>
              </a:ext>
            </a:extLst>
          </p:cNvPr>
          <p:cNvCxnSpPr>
            <a:cxnSpLocks/>
          </p:cNvCxnSpPr>
          <p:nvPr/>
        </p:nvCxnSpPr>
        <p:spPr>
          <a:xfrm>
            <a:off x="10202243" y="2579592"/>
            <a:ext cx="866013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6197D55-F34A-7236-E311-A0AE8E87C3B2}"/>
              </a:ext>
            </a:extLst>
          </p:cNvPr>
          <p:cNvSpPr txBox="1"/>
          <p:nvPr/>
        </p:nvSpPr>
        <p:spPr>
          <a:xfrm>
            <a:off x="9749424" y="2862539"/>
            <a:ext cx="1771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Solve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69B13C-31BC-ACB0-4063-D168C55B9D2B}"/>
              </a:ext>
            </a:extLst>
          </p:cNvPr>
          <p:cNvSpPr txBox="1"/>
          <p:nvPr/>
        </p:nvSpPr>
        <p:spPr>
          <a:xfrm>
            <a:off x="391601" y="1835681"/>
            <a:ext cx="110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7030A0"/>
                </a:solidFill>
              </a:rPr>
              <a:t>PDE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A6AFBC-7578-D97D-7106-5B72A3462E0F}"/>
              </a:ext>
            </a:extLst>
          </p:cNvPr>
          <p:cNvSpPr txBox="1"/>
          <p:nvPr/>
        </p:nvSpPr>
        <p:spPr>
          <a:xfrm>
            <a:off x="2542065" y="1690066"/>
            <a:ext cx="2077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7030A0"/>
                </a:solidFill>
              </a:rPr>
              <a:t>Variational formulation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E52E3E-A88D-BBDB-E705-FCE45CB44CBC}"/>
              </a:ext>
            </a:extLst>
          </p:cNvPr>
          <p:cNvSpPr txBox="1"/>
          <p:nvPr/>
        </p:nvSpPr>
        <p:spPr>
          <a:xfrm>
            <a:off x="5775042" y="1702542"/>
            <a:ext cx="1763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7030A0"/>
                </a:solidFill>
              </a:rPr>
              <a:t>Finite element formulation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3581E5-5D10-32EA-49D1-3B0244F99AE3}"/>
              </a:ext>
            </a:extLst>
          </p:cNvPr>
          <p:cNvSpPr txBox="1"/>
          <p:nvPr/>
        </p:nvSpPr>
        <p:spPr>
          <a:xfrm>
            <a:off x="8542045" y="1681544"/>
            <a:ext cx="1763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7030A0"/>
                </a:solidFill>
              </a:rPr>
              <a:t>Linear algebra problem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52A326D-79D8-CA8E-BF6F-26379689D190}"/>
              </a:ext>
            </a:extLst>
          </p:cNvPr>
          <p:cNvSpPr txBox="1"/>
          <p:nvPr/>
        </p:nvSpPr>
        <p:spPr>
          <a:xfrm>
            <a:off x="10555647" y="1925567"/>
            <a:ext cx="1763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7030A0"/>
                </a:solidFill>
              </a:rPr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449AC24-3399-675F-2F0B-CBD5C6702E7D}"/>
                  </a:ext>
                </a:extLst>
              </p:cNvPr>
              <p:cNvSpPr txBox="1"/>
              <p:nvPr/>
            </p:nvSpPr>
            <p:spPr>
              <a:xfrm>
                <a:off x="10039100" y="3511945"/>
                <a:ext cx="1921697" cy="6470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:=</m:t>
                      </m:r>
                      <m:nary>
                        <m:nary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449AC24-3399-675F-2F0B-CBD5C6702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9100" y="3511945"/>
                <a:ext cx="1921697" cy="64703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4651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2ED9-A8E3-E02B-3FBA-C97924789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Solution: Goal-based adaptive meshing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62B21-65BB-0973-9A61-A912D460B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Define goal functional</a:t>
            </a:r>
          </a:p>
          <a:p>
            <a:endParaRPr lang="en-GB" sz="2000" dirty="0"/>
          </a:p>
          <a:p>
            <a:r>
              <a:rPr lang="en-GB" sz="2000" dirty="0"/>
              <a:t>Aim 1: </a:t>
            </a:r>
            <a:r>
              <a:rPr lang="en-GB" sz="2000" dirty="0">
                <a:solidFill>
                  <a:schemeClr val="accent6"/>
                </a:solidFill>
              </a:rPr>
              <a:t>Estimate error</a:t>
            </a:r>
          </a:p>
          <a:p>
            <a:r>
              <a:rPr lang="en-GB" sz="2000" dirty="0"/>
              <a:t>Aim 2: </a:t>
            </a:r>
            <a:r>
              <a:rPr lang="en-GB" sz="2000" dirty="0">
                <a:solidFill>
                  <a:srgbClr val="00B0F0"/>
                </a:solidFill>
              </a:rPr>
              <a:t>Control error </a:t>
            </a:r>
          </a:p>
          <a:p>
            <a:endParaRPr lang="en-GB" sz="2000" dirty="0">
              <a:solidFill>
                <a:srgbClr val="00B0F0"/>
              </a:solidFill>
            </a:endParaRPr>
          </a:p>
          <a:p>
            <a:r>
              <a:rPr lang="en-GB" sz="2000" dirty="0"/>
              <a:t>How to control? Adapt mesh!</a:t>
            </a:r>
          </a:p>
          <a:p>
            <a:pPr marL="0" indent="0">
              <a:buNone/>
            </a:pPr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pPr marL="0" indent="0">
              <a:buNone/>
            </a:pP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708D21-9F51-5A2A-82A7-91E1E510012F}"/>
                  </a:ext>
                </a:extLst>
              </p:cNvPr>
              <p:cNvSpPr txBox="1"/>
              <p:nvPr/>
            </p:nvSpPr>
            <p:spPr>
              <a:xfrm>
                <a:off x="4122005" y="1546833"/>
                <a:ext cx="2819400" cy="7378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708D21-9F51-5A2A-82A7-91E1E5100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2005" y="1546833"/>
                <a:ext cx="2819400" cy="7378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90AB88-3DEA-EC44-0B7D-00BD2270B7C8}"/>
                  </a:ext>
                </a:extLst>
              </p:cNvPr>
              <p:cNvSpPr txBox="1"/>
              <p:nvPr/>
            </p:nvSpPr>
            <p:spPr>
              <a:xfrm>
                <a:off x="4604004" y="2672341"/>
                <a:ext cx="389991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≔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𝑡𝑜𝑙𝑒𝑟𝑎𝑛𝑐𝑒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90AB88-3DEA-EC44-0B7D-00BD2270B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4004" y="2672341"/>
                <a:ext cx="3899916" cy="400110"/>
              </a:xfrm>
              <a:prstGeom prst="rect">
                <a:avLst/>
              </a:prstGeom>
              <a:blipFill>
                <a:blip r:embed="rId3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DF4A2252-36C8-6BD7-4F1F-C5CB5D06C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5212262" y="3285770"/>
            <a:ext cx="2365231" cy="341715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C8E8F9-8E43-6624-DCE9-F29C609B1073}"/>
                  </a:ext>
                </a:extLst>
              </p:cNvPr>
              <p:cNvSpPr txBox="1"/>
              <p:nvPr/>
            </p:nvSpPr>
            <p:spPr>
              <a:xfrm>
                <a:off x="1435955" y="4879633"/>
                <a:ext cx="26860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GB" dirty="0">
                    <a:ea typeface="Cambria Math" panose="02040503050406030204" pitchFamily="18" charset="0"/>
                  </a:rPr>
                  <a:t>Use l</a:t>
                </a:r>
                <a:r>
                  <a:rPr lang="en-GB" b="0" dirty="0">
                    <a:ea typeface="Cambria Math" panose="02040503050406030204" pitchFamily="18" charset="0"/>
                  </a:rPr>
                  <a:t>ocal error indicator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C8E8F9-8E43-6624-DCE9-F29C609B1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955" y="4879633"/>
                <a:ext cx="2686050" cy="646331"/>
              </a:xfrm>
              <a:prstGeom prst="rect">
                <a:avLst/>
              </a:prstGeom>
              <a:blipFill>
                <a:blip r:embed="rId5"/>
                <a:stretch>
                  <a:fillRect l="-2045" t="-3774" b="-37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651E1CD-531F-DFDE-F6AB-F252E10895C2}"/>
              </a:ext>
            </a:extLst>
          </p:cNvPr>
          <p:cNvSpPr txBox="1"/>
          <p:nvPr/>
        </p:nvSpPr>
        <p:spPr>
          <a:xfrm>
            <a:off x="7554815" y="1694431"/>
            <a:ext cx="1097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 err="1"/>
              <a:t>QoI</a:t>
            </a: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2174037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5549A73-7052-601B-D2EA-53CD55ECA2A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3600" dirty="0"/>
                  <a:t>How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GB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GB" sz="3600" dirty="0"/>
                  <a:t>? </a:t>
                </a:r>
                <a:r>
                  <a:rPr lang="en-GB" sz="3600" dirty="0">
                    <a:solidFill>
                      <a:schemeClr val="accent6"/>
                    </a:solidFill>
                  </a:rPr>
                  <a:t>(Global error estimate)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5549A73-7052-601B-D2EA-53CD55ECA2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7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48A24A-43A4-2E6F-9E9F-156042D4D9FD}"/>
                  </a:ext>
                </a:extLst>
              </p:cNvPr>
              <p:cNvSpPr txBox="1"/>
              <p:nvPr/>
            </p:nvSpPr>
            <p:spPr>
              <a:xfrm>
                <a:off x="4024884" y="2751614"/>
                <a:ext cx="60960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, 	for any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endParaRPr lang="en-GB" sz="2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48A24A-43A4-2E6F-9E9F-156042D4D9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4884" y="2751614"/>
                <a:ext cx="6096000" cy="400110"/>
              </a:xfrm>
              <a:prstGeom prst="rect">
                <a:avLst/>
              </a:prstGeom>
              <a:blipFill>
                <a:blip r:embed="rId4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62A3C2-8F10-65CF-C3B9-D454CBD633A6}"/>
                  </a:ext>
                </a:extLst>
              </p:cNvPr>
              <p:cNvSpPr txBox="1"/>
              <p:nvPr/>
            </p:nvSpPr>
            <p:spPr>
              <a:xfrm>
                <a:off x="4024884" y="3509095"/>
                <a:ext cx="60960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GB" sz="2000" dirty="0"/>
                  <a:t>,		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endParaRPr lang="en-GB" sz="2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62A3C2-8F10-65CF-C3B9-D454CBD63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4884" y="3509095"/>
                <a:ext cx="6096000" cy="400110"/>
              </a:xfrm>
              <a:prstGeom prst="rect">
                <a:avLst/>
              </a:prstGeom>
              <a:blipFill>
                <a:blip r:embed="rId5"/>
                <a:stretch>
                  <a:fillRect t="-7692" b="-29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D2EB08-715F-59F8-E381-B3D1033CBDEC}"/>
                  </a:ext>
                </a:extLst>
              </p:cNvPr>
              <p:cNvSpPr txBox="1"/>
              <p:nvPr/>
            </p:nvSpPr>
            <p:spPr>
              <a:xfrm>
                <a:off x="6313932" y="5822870"/>
                <a:ext cx="6099048" cy="9169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800" dirty="0"/>
                  <a:t>Derivation (linear case):</a:t>
                </a:r>
                <a:endParaRPr lang="en-GB" sz="18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)≈</m:t>
                    </m:r>
                    <m:r>
                      <a:rPr lang="en-GB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GB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800" dirty="0"/>
                  <a:t> 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D2EB08-715F-59F8-E381-B3D1033CB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932" y="5822870"/>
                <a:ext cx="6099048" cy="916982"/>
              </a:xfrm>
              <a:prstGeom prst="rect">
                <a:avLst/>
              </a:prstGeom>
              <a:blipFill>
                <a:blip r:embed="rId6"/>
                <a:stretch>
                  <a:fillRect l="-900" t="-2649" b="-4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3B470F1-545F-A47C-1777-95E2E7C80D93}"/>
                  </a:ext>
                </a:extLst>
              </p:cNvPr>
              <p:cNvSpPr txBox="1"/>
              <p:nvPr/>
            </p:nvSpPr>
            <p:spPr>
              <a:xfrm>
                <a:off x="3968496" y="4319883"/>
                <a:ext cx="425500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3B470F1-545F-A47C-1777-95E2E7C80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8496" y="4319883"/>
                <a:ext cx="4255008" cy="400110"/>
              </a:xfrm>
              <a:prstGeom prst="rect">
                <a:avLst/>
              </a:prstGeom>
              <a:blipFill>
                <a:blip r:embed="rId7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905053F0-CAA5-4415-7097-7B107C569A53}"/>
              </a:ext>
            </a:extLst>
          </p:cNvPr>
          <p:cNvSpPr/>
          <p:nvPr/>
        </p:nvSpPr>
        <p:spPr>
          <a:xfrm>
            <a:off x="6163056" y="5742432"/>
            <a:ext cx="6099048" cy="12070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C3D4C0-9279-D2F6-A36F-0026E13B6E14}"/>
                  </a:ext>
                </a:extLst>
              </p:cNvPr>
              <p:cNvSpPr txBox="1"/>
              <p:nvPr/>
            </p:nvSpPr>
            <p:spPr>
              <a:xfrm>
                <a:off x="4024884" y="1780666"/>
                <a:ext cx="457809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2000" dirty="0"/>
                  <a:t>, 	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endParaRPr lang="en-GB" sz="2000" i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C3D4C0-9279-D2F6-A36F-0026E13B6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4884" y="1780666"/>
                <a:ext cx="4578096" cy="400110"/>
              </a:xfrm>
              <a:prstGeom prst="rect">
                <a:avLst/>
              </a:prstGeom>
              <a:blipFill>
                <a:blip r:embed="rId8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A415B9F6-1737-94A6-8640-22EC4A550729}"/>
              </a:ext>
            </a:extLst>
          </p:cNvPr>
          <p:cNvSpPr/>
          <p:nvPr/>
        </p:nvSpPr>
        <p:spPr>
          <a:xfrm>
            <a:off x="4024884" y="1652842"/>
            <a:ext cx="5000244" cy="6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9D66E6-A934-FB90-0962-04B521DD1527}"/>
              </a:ext>
            </a:extLst>
          </p:cNvPr>
          <p:cNvSpPr txBox="1"/>
          <p:nvPr/>
        </p:nvSpPr>
        <p:spPr>
          <a:xfrm>
            <a:off x="838200" y="2765612"/>
            <a:ext cx="29382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Residual</a:t>
            </a:r>
            <a:r>
              <a:rPr lang="en-GB" sz="2000" b="0" dirty="0"/>
              <a:t>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Dual problem: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000" b="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accent6"/>
                </a:solidFill>
              </a:rPr>
              <a:t>Global error: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84CC3D-A7F9-E071-1842-44401ACB716C}"/>
              </a:ext>
            </a:extLst>
          </p:cNvPr>
          <p:cNvSpPr/>
          <p:nvPr/>
        </p:nvSpPr>
        <p:spPr>
          <a:xfrm>
            <a:off x="4024884" y="3383215"/>
            <a:ext cx="5000244" cy="6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472E3C-8CB3-7165-6D74-5A3C870CFFCE}"/>
              </a:ext>
            </a:extLst>
          </p:cNvPr>
          <p:cNvSpPr txBox="1"/>
          <p:nvPr/>
        </p:nvSpPr>
        <p:spPr>
          <a:xfrm>
            <a:off x="8401430" y="4321572"/>
            <a:ext cx="25439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(From theorem [1])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8EF58D4-C1D4-4E82-1EB4-9E2CD8758FE8}"/>
              </a:ext>
            </a:extLst>
          </p:cNvPr>
          <p:cNvCxnSpPr/>
          <p:nvPr/>
        </p:nvCxnSpPr>
        <p:spPr>
          <a:xfrm>
            <a:off x="9217152" y="1929384"/>
            <a:ext cx="585216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AE82330-0077-ECA6-2853-94643DFBDE1E}"/>
              </a:ext>
            </a:extLst>
          </p:cNvPr>
          <p:cNvCxnSpPr/>
          <p:nvPr/>
        </p:nvCxnSpPr>
        <p:spPr>
          <a:xfrm>
            <a:off x="9217152" y="3744686"/>
            <a:ext cx="585216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C4CBA3E-257D-6D92-98E8-2CB010DCD8B7}"/>
                  </a:ext>
                </a:extLst>
              </p:cNvPr>
              <p:cNvSpPr txBox="1"/>
              <p:nvPr/>
            </p:nvSpPr>
            <p:spPr>
              <a:xfrm>
                <a:off x="9820656" y="1706188"/>
                <a:ext cx="5897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C4CBA3E-257D-6D92-98E8-2CB010DCD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0656" y="1706188"/>
                <a:ext cx="5897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053A92-5FEE-133C-059F-8E86FA20D726}"/>
                  </a:ext>
                </a:extLst>
              </p:cNvPr>
              <p:cNvSpPr txBox="1"/>
              <p:nvPr/>
            </p:nvSpPr>
            <p:spPr>
              <a:xfrm>
                <a:off x="9802368" y="3517720"/>
                <a:ext cx="5897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053A92-5FEE-133C-059F-8E86FA20D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2368" y="3517720"/>
                <a:ext cx="5897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564A3817-4720-1EA4-7F7C-ACFD9D1ED52C}"/>
              </a:ext>
            </a:extLst>
          </p:cNvPr>
          <p:cNvSpPr txBox="1"/>
          <p:nvPr/>
        </p:nvSpPr>
        <p:spPr>
          <a:xfrm>
            <a:off x="876300" y="1787347"/>
            <a:ext cx="30921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(Weak) problem</a:t>
            </a:r>
            <a:r>
              <a:rPr lang="en-GB" sz="2000" b="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205927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4E47C10-767C-5351-45CB-BDE497F128F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3600" dirty="0"/>
                  <a:t>How to obtain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GB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sz="3600" dirty="0"/>
                  <a:t>? </a:t>
                </a:r>
                <a:r>
                  <a:rPr lang="en-GB" sz="3600" dirty="0">
                    <a:solidFill>
                      <a:srgbClr val="00B0F0"/>
                    </a:solidFill>
                  </a:rPr>
                  <a:t>(Local error indicator)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4E47C10-767C-5351-45CB-BDE497F128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7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E1C8C-E1E7-8830-7B31-E3FDB408A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97535"/>
          </a:xfrm>
        </p:spPr>
        <p:txBody>
          <a:bodyPr>
            <a:normAutofit/>
          </a:bodyPr>
          <a:lstStyle/>
          <a:p>
            <a:r>
              <a:rPr lang="en-GB" sz="2000" dirty="0"/>
              <a:t>Example: Poisson equation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D4C5EC4-F2A8-AD91-A6DB-502C1A6DE270}"/>
              </a:ext>
            </a:extLst>
          </p:cNvPr>
          <p:cNvGrpSpPr/>
          <p:nvPr/>
        </p:nvGrpSpPr>
        <p:grpSpPr>
          <a:xfrm>
            <a:off x="3429000" y="4661685"/>
            <a:ext cx="5826252" cy="777240"/>
            <a:chOff x="3017520" y="4944558"/>
            <a:chExt cx="5422392" cy="77724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1765EFE-89BA-6E4E-5C83-9CEB15C5C320}"/>
                    </a:ext>
                  </a:extLst>
                </p:cNvPr>
                <p:cNvSpPr txBox="1"/>
                <p:nvPr/>
              </p:nvSpPr>
              <p:spPr>
                <a:xfrm>
                  <a:off x="3153586" y="5136331"/>
                  <a:ext cx="518683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GB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4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GB" sz="24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GB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∇</m:t>
                                        </m:r>
                                      </m:e>
                                      <m:sup>
                                        <m:r>
                                          <a:rPr lang="en-GB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GB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GB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  <m:r>
                                      <a:rPr lang="en-GB" sz="2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2400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b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GB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400" i="1">
                                        <a:latin typeface="Cambria Math" panose="02040503050406030204" pitchFamily="18" charset="0"/>
                                      </a:rPr>
                                      <m:t>[−</m:t>
                                    </m:r>
                                    <m:sSub>
                                      <m:sSubPr>
                                        <m:ctrlPr>
                                          <a:rPr lang="en-GB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b>
                                        <m:r>
                                          <a:rPr lang="en-GB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GB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GB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  <m:r>
                                      <a:rPr lang="en-GB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],</m:t>
                                    </m:r>
                                    <m:sSub>
                                      <m:sSubPr>
                                        <m:ctrlP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b>
                                <m:r>
                                  <a:rPr lang="en-GB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GB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GB" sz="2400" dirty="0"/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1765EFE-89BA-6E4E-5C83-9CEB15C5C3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3586" y="5136331"/>
                  <a:ext cx="5186836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344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90368D2-B5C3-C7BF-46F3-80B76A14B532}"/>
                </a:ext>
              </a:extLst>
            </p:cNvPr>
            <p:cNvSpPr/>
            <p:nvPr/>
          </p:nvSpPr>
          <p:spPr>
            <a:xfrm>
              <a:off x="3017520" y="4944558"/>
              <a:ext cx="5422392" cy="777240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5976AAF-524C-35CD-4224-4C5EE524A910}"/>
              </a:ext>
            </a:extLst>
          </p:cNvPr>
          <p:cNvSpPr txBox="1"/>
          <p:nvPr/>
        </p:nvSpPr>
        <p:spPr>
          <a:xfrm>
            <a:off x="907542" y="5926021"/>
            <a:ext cx="6892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Previously: Had to be derived </a:t>
            </a:r>
            <a:r>
              <a:rPr lang="en-GB" sz="2000" b="1" dirty="0"/>
              <a:t>manually</a:t>
            </a:r>
            <a:r>
              <a:rPr lang="en-GB" sz="2000" dirty="0"/>
              <a:t> for each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E70957E-097B-0C15-8F6D-41B537E0850F}"/>
                  </a:ext>
                </a:extLst>
              </p:cNvPr>
              <p:cNvSpPr txBox="1"/>
              <p:nvPr/>
            </p:nvSpPr>
            <p:spPr>
              <a:xfrm>
                <a:off x="1387668" y="2341652"/>
                <a:ext cx="8570147" cy="18329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GB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22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GB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22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⟨"/>
                        <m:endChr m:val="⟩"/>
                        <m:ctrlPr>
                          <a:rPr lang="en-GB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sSub>
                          <m:sSubPr>
                            <m:ctrlPr>
                              <a:rPr lang="en-GB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GB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sSub>
                          <m:sSubPr>
                            <m:ctrlPr>
                              <a:rPr lang="en-GB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2200" dirty="0"/>
                  <a:t> </a:t>
                </a:r>
              </a:p>
              <a:p>
                <a:pPr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GB" sz="2200" dirty="0"/>
                  <a:t>          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GB" sz="2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GB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GB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2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GB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GB" sz="22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  <m:sub>
                            <m:r>
                              <a:rPr lang="en-GB" sz="2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GB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GB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  <m:sSub>
                                  <m:sSubPr>
                                    <m:ctrlPr>
                                      <a:rPr lang="en-GB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GB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en-GB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GB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  <m:sSub>
                                  <m:sSubPr>
                                    <m:ctrlPr>
                                      <a:rPr lang="en-GB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GB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GB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GB" sz="22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GB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2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GB" sz="2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GB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∇</m:t>
                                    </m:r>
                                  </m:e>
                                  <m:sup>
                                    <m:r>
                                      <a:rPr lang="en-GB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GB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GB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en-GB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GB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2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GB" sz="22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GB" sz="2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GB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GB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</m:e>
                                  <m:sub>
                                    <m:r>
                                      <a:rPr lang="en-GB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GB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en-GB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GB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GB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GB" sz="2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GB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sz="2200" dirty="0"/>
                  <a:t> </a:t>
                </a:r>
              </a:p>
              <a:p>
                <a:pPr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GB" sz="2200" dirty="0"/>
                  <a:t>           </a:t>
                </a:r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GB" sz="22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GB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2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GB" sz="2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GB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∇</m:t>
                                    </m:r>
                                  </m:e>
                                  <m:sup>
                                    <m:r>
                                      <a:rPr lang="en-GB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GB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GB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en-GB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GB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2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GB" sz="22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GB" sz="2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GB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200" b="0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22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GB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</m:e>
                                  <m:sub>
                                    <m:r>
                                      <a:rPr lang="en-GB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GB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en-GB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]</m:t>
                                </m:r>
                                <m:r>
                                  <a:rPr lang="en-GB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GB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GB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GB" sz="2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GB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sz="2200" dirty="0"/>
                  <a:t> </a:t>
                </a: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E70957E-097B-0C15-8F6D-41B537E08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668" y="2341652"/>
                <a:ext cx="8570147" cy="1832938"/>
              </a:xfrm>
              <a:prstGeom prst="rect">
                <a:avLst/>
              </a:prstGeom>
              <a:blipFill>
                <a:blip r:embed="rId5"/>
                <a:stretch>
                  <a:fillRect b="-43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3052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8B84D-C922-947D-D359-60FDAB5CD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Automated </a:t>
            </a:r>
            <a:r>
              <a:rPr lang="en-GB" sz="3600" dirty="0">
                <a:solidFill>
                  <a:srgbClr val="00B0F0"/>
                </a:solidFill>
              </a:rPr>
              <a:t>local error indicators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612A58-8262-DFDA-BC83-E080CA510D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33489"/>
                <a:ext cx="6961615" cy="4028865"/>
              </a:xfrm>
            </p:spPr>
            <p:txBody>
              <a:bodyPr>
                <a:noAutofit/>
              </a:bodyPr>
              <a:lstStyle/>
              <a:p>
                <a:r>
                  <a:rPr lang="en-GB" sz="2000" dirty="0"/>
                  <a:t>A large class of problems have this error indicator form:</a:t>
                </a:r>
              </a:p>
              <a:p>
                <a:endParaRPr lang="en-GB" sz="2000" dirty="0"/>
              </a:p>
              <a:p>
                <a:endParaRPr lang="en-GB" sz="2000" dirty="0"/>
              </a:p>
              <a:p>
                <a:r>
                  <a:rPr lang="en-GB" sz="2000" dirty="0"/>
                  <a:t>Project onto bubble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sz="2000" dirty="0"/>
                  <a:t>:</a:t>
                </a:r>
              </a:p>
              <a:p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  <a:p>
                <a:r>
                  <a:rPr lang="en-GB" sz="2000" dirty="0"/>
                  <a:t>Project onto facet bubble function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p>
                    </m:sSubSup>
                  </m:oMath>
                </a14:m>
                <a:r>
                  <a:rPr lang="en-GB" sz="2000" dirty="0"/>
                  <a:t>:</a:t>
                </a:r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  <a:p>
                <a:r>
                  <a:rPr lang="en-GB" sz="2000" dirty="0"/>
                  <a:t>Then assemble error indicator:</a:t>
                </a:r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612A58-8262-DFDA-BC83-E080CA510D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33489"/>
                <a:ext cx="6961615" cy="4028865"/>
              </a:xfrm>
              <a:blipFill>
                <a:blip r:embed="rId2"/>
                <a:stretch>
                  <a:fillRect l="-789" t="-1362" b="-15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A1B9A69-394A-4356-7EB8-3C71D7404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815" y="1358514"/>
            <a:ext cx="3621041" cy="2291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2A509B-5517-FF9F-0495-AB2F5002E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723" y="3649954"/>
            <a:ext cx="3621041" cy="280162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88E4B4-2CE7-53E5-878A-375AB711AFAD}"/>
                  </a:ext>
                </a:extLst>
              </p:cNvPr>
              <p:cNvSpPr txBox="1"/>
              <p:nvPr/>
            </p:nvSpPr>
            <p:spPr>
              <a:xfrm>
                <a:off x="1447629" y="2371908"/>
                <a:ext cx="56418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GB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GB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GB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)]</m:t>
                                  </m:r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88E4B4-2CE7-53E5-878A-375AB711A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629" y="2371908"/>
                <a:ext cx="5641848" cy="400110"/>
              </a:xfrm>
              <a:prstGeom prst="rect">
                <a:avLst/>
              </a:prstGeom>
              <a:blipFill>
                <a:blip r:embed="rId5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CE941C-FD68-9DCF-9C29-495B80846AF2}"/>
                  </a:ext>
                </a:extLst>
              </p:cNvPr>
              <p:cNvSpPr txBox="1"/>
              <p:nvPr/>
            </p:nvSpPr>
            <p:spPr>
              <a:xfrm>
                <a:off x="1271770" y="3611309"/>
                <a:ext cx="609447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CE941C-FD68-9DCF-9C29-495B80846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770" y="3611309"/>
                <a:ext cx="6094476" cy="400110"/>
              </a:xfrm>
              <a:prstGeom prst="rect">
                <a:avLst/>
              </a:prstGeom>
              <a:blipFill>
                <a:blip r:embed="rId6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348C54E-A92E-7B14-83D2-8BA74F3D356B}"/>
                  </a:ext>
                </a:extLst>
              </p:cNvPr>
              <p:cNvSpPr txBox="1"/>
              <p:nvPr/>
            </p:nvSpPr>
            <p:spPr>
              <a:xfrm>
                <a:off x="1221315" y="4850711"/>
                <a:ext cx="609447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Sup>
                                <m:sSubSup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Sup>
                                <m:sSubSup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348C54E-A92E-7B14-83D2-8BA74F3D3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315" y="4850711"/>
                <a:ext cx="6094476" cy="400110"/>
              </a:xfrm>
              <a:prstGeom prst="rect">
                <a:avLst/>
              </a:prstGeom>
              <a:blipFill>
                <a:blip r:embed="rId7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CD37915-3CC2-DFEF-A26A-9123774ADF85}"/>
                  </a:ext>
                </a:extLst>
              </p:cNvPr>
              <p:cNvSpPr txBox="1"/>
              <p:nvPr/>
            </p:nvSpPr>
            <p:spPr>
              <a:xfrm>
                <a:off x="1371429" y="6021305"/>
                <a:ext cx="56418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],</m:t>
                                  </m:r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CD37915-3CC2-DFEF-A26A-9123774AD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429" y="6021305"/>
                <a:ext cx="5641848" cy="400110"/>
              </a:xfrm>
              <a:prstGeom prst="rect">
                <a:avLst/>
              </a:prstGeom>
              <a:blipFill>
                <a:blip r:embed="rId8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45277F00-FB71-DDE0-7A4D-6881D8E343DF}"/>
              </a:ext>
            </a:extLst>
          </p:cNvPr>
          <p:cNvSpPr/>
          <p:nvPr/>
        </p:nvSpPr>
        <p:spPr>
          <a:xfrm>
            <a:off x="2171529" y="5962354"/>
            <a:ext cx="4041648" cy="53052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7468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4CEF0-0174-1ABB-284A-F678543E9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Automated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DA660E-CA7C-6B58-CB46-A5F87E4900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450463"/>
              </a:xfrm>
            </p:spPr>
            <p:txBody>
              <a:bodyPr>
                <a:noAutofit/>
              </a:bodyPr>
              <a:lstStyle/>
              <a:p>
                <a:pPr marL="0" indent="0">
                  <a:spcAft>
                    <a:spcPts val="600"/>
                  </a:spcAft>
                  <a:buNone/>
                </a:pPr>
                <a:r>
                  <a:rPr lang="en-GB" sz="2400" dirty="0"/>
                  <a:t>Given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,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,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𝑡𝑜𝑙𝑒𝑟𝑎𝑛𝑐𝑒</m:t>
                    </m:r>
                  </m:oMath>
                </a14:m>
                <a:r>
                  <a:rPr lang="en-GB" sz="2400" dirty="0"/>
                  <a:t>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sz="2000" dirty="0"/>
                  <a:t>Solve primal problem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endParaRPr lang="en-GB" sz="20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sz="2000" dirty="0"/>
                  <a:t>Solve dual problem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endParaRPr lang="en-GB" sz="20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sz="2000" dirty="0"/>
                  <a:t>Obtain global error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GB" sz="2000" dirty="0"/>
                  <a:t>.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𝑡𝑜𝑙𝑒𝑟𝑎𝑛𝑐𝑒</m:t>
                    </m:r>
                  </m:oMath>
                </a14:m>
                <a:r>
                  <a:rPr lang="en-GB" sz="2000" dirty="0"/>
                  <a:t>, break and accept solution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sz="2000" dirty="0"/>
                  <a:t>Compute local refinement indicators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GB" sz="20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sz="2000" dirty="0"/>
                  <a:t>Mark cells for refinement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sz="2000" dirty="0"/>
                  <a:t>Refine mesh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sz="2000" dirty="0"/>
                  <a:t>Move problems to new mesh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GB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DA660E-CA7C-6B58-CB46-A5F87E4900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450463"/>
              </a:xfrm>
              <a:blipFill>
                <a:blip r:embed="rId2"/>
                <a:stretch>
                  <a:fillRect l="-928" t="-22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B0D3BBD-4859-9AAF-2B47-609B77E53770}"/>
              </a:ext>
            </a:extLst>
          </p:cNvPr>
          <p:cNvSpPr txBox="1"/>
          <p:nvPr/>
        </p:nvSpPr>
        <p:spPr>
          <a:xfrm>
            <a:off x="1280160" y="5416158"/>
            <a:ext cx="1344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Solve primal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F440D0-71D0-E1B9-F3A5-D74BCB1C4248}"/>
              </a:ext>
            </a:extLst>
          </p:cNvPr>
          <p:cNvSpPr txBox="1"/>
          <p:nvPr/>
        </p:nvSpPr>
        <p:spPr>
          <a:xfrm>
            <a:off x="2947416" y="5416156"/>
            <a:ext cx="1344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Solve dual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5255B3-5B08-6201-7AC5-2FEE36D13E9F}"/>
              </a:ext>
            </a:extLst>
          </p:cNvPr>
          <p:cNvSpPr txBox="1"/>
          <p:nvPr/>
        </p:nvSpPr>
        <p:spPr>
          <a:xfrm>
            <a:off x="4614672" y="5416157"/>
            <a:ext cx="1344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Global error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C248E6-359D-23DF-32D1-D514989E551C}"/>
              </a:ext>
            </a:extLst>
          </p:cNvPr>
          <p:cNvSpPr txBox="1"/>
          <p:nvPr/>
        </p:nvSpPr>
        <p:spPr>
          <a:xfrm>
            <a:off x="6281928" y="5411025"/>
            <a:ext cx="1344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Local errors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9775C4-3273-8B08-1455-398B97902854}"/>
              </a:ext>
            </a:extLst>
          </p:cNvPr>
          <p:cNvSpPr txBox="1"/>
          <p:nvPr/>
        </p:nvSpPr>
        <p:spPr>
          <a:xfrm>
            <a:off x="7949184" y="5629383"/>
            <a:ext cx="1344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Mark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13AF9A-24E5-0931-5C08-AEEAD0BBC272}"/>
              </a:ext>
            </a:extLst>
          </p:cNvPr>
          <p:cNvSpPr txBox="1"/>
          <p:nvPr/>
        </p:nvSpPr>
        <p:spPr>
          <a:xfrm>
            <a:off x="9616440" y="5639615"/>
            <a:ext cx="1344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Refine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920C4EE-139A-8E0B-F947-BBCC8AC389CA}"/>
              </a:ext>
            </a:extLst>
          </p:cNvPr>
          <p:cNvCxnSpPr/>
          <p:nvPr/>
        </p:nvCxnSpPr>
        <p:spPr>
          <a:xfrm>
            <a:off x="2624328" y="5870448"/>
            <a:ext cx="420624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9E307ED-3D96-2769-0CB3-D98F15F734F1}"/>
              </a:ext>
            </a:extLst>
          </p:cNvPr>
          <p:cNvCxnSpPr/>
          <p:nvPr/>
        </p:nvCxnSpPr>
        <p:spPr>
          <a:xfrm>
            <a:off x="4239768" y="5870448"/>
            <a:ext cx="420624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13A03EA-77DC-834B-44FB-4A3BE654F140}"/>
              </a:ext>
            </a:extLst>
          </p:cNvPr>
          <p:cNvCxnSpPr/>
          <p:nvPr/>
        </p:nvCxnSpPr>
        <p:spPr>
          <a:xfrm>
            <a:off x="6010656" y="5858256"/>
            <a:ext cx="420624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758550-E411-E64F-D729-1444C3D8DF67}"/>
              </a:ext>
            </a:extLst>
          </p:cNvPr>
          <p:cNvCxnSpPr/>
          <p:nvPr/>
        </p:nvCxnSpPr>
        <p:spPr>
          <a:xfrm>
            <a:off x="7626096" y="5855208"/>
            <a:ext cx="420624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E96E3B8-4215-BCD5-42AE-1AB0D1C1BC28}"/>
              </a:ext>
            </a:extLst>
          </p:cNvPr>
          <p:cNvCxnSpPr/>
          <p:nvPr/>
        </p:nvCxnSpPr>
        <p:spPr>
          <a:xfrm>
            <a:off x="9223248" y="5850907"/>
            <a:ext cx="420624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08494C05-1B2D-38CC-A284-8C0C6210AC6A}"/>
              </a:ext>
            </a:extLst>
          </p:cNvPr>
          <p:cNvCxnSpPr>
            <a:cxnSpLocks/>
          </p:cNvCxnSpPr>
          <p:nvPr/>
        </p:nvCxnSpPr>
        <p:spPr>
          <a:xfrm rot="10800000" flipV="1">
            <a:off x="999744" y="5850905"/>
            <a:ext cx="9918192" cy="641970"/>
          </a:xfrm>
          <a:prstGeom prst="bentConnector3">
            <a:avLst>
              <a:gd name="adj1" fmla="val -2735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BF5B807-F551-CF75-AE93-1CE416A829E3}"/>
              </a:ext>
            </a:extLst>
          </p:cNvPr>
          <p:cNvCxnSpPr>
            <a:cxnSpLocks/>
          </p:cNvCxnSpPr>
          <p:nvPr/>
        </p:nvCxnSpPr>
        <p:spPr>
          <a:xfrm flipV="1">
            <a:off x="1008888" y="5870448"/>
            <a:ext cx="0" cy="622428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FB2C81F-C131-FD37-591A-EA3DD77CCF79}"/>
              </a:ext>
            </a:extLst>
          </p:cNvPr>
          <p:cNvCxnSpPr/>
          <p:nvPr/>
        </p:nvCxnSpPr>
        <p:spPr>
          <a:xfrm>
            <a:off x="999744" y="5881385"/>
            <a:ext cx="420624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2011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79CB3-A1E8-779A-C637-6542B1A46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Implementation (Firedrake)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2E4CD3-AE31-0908-C1E7-4CD452A5F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844" y="1690688"/>
            <a:ext cx="9354312" cy="455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434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31AB5-BB97-8E4C-A4F6-A6E5E62B4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User input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94CF01-070A-E185-97EA-1B19D73CC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489" y="1690688"/>
            <a:ext cx="7319022" cy="452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589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D3274-1EA7-5A40-75F2-1D735CFDD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ACE97-510C-FDC2-DF90-ABEE9122A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Example: Lift generated by cylinder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A4F7DD-B5AD-9F49-D8D9-2DDEBA129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51" y="2084832"/>
            <a:ext cx="6200406" cy="38398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68883D2-5FE1-2FC2-09F7-D580E31B304D}"/>
              </a:ext>
            </a:extLst>
          </p:cNvPr>
          <p:cNvSpPr txBox="1"/>
          <p:nvPr/>
        </p:nvSpPr>
        <p:spPr>
          <a:xfrm>
            <a:off x="655320" y="1939398"/>
            <a:ext cx="51145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000" dirty="0"/>
              <a:t>Problem: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GB" sz="20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GB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7AE6A6E-9B4C-36DE-7896-C575319DEF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269"/>
          <a:stretch>
            <a:fillRect/>
          </a:stretch>
        </p:blipFill>
        <p:spPr>
          <a:xfrm>
            <a:off x="655320" y="3846359"/>
            <a:ext cx="4937180" cy="24783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8F0811C-A229-A26A-D803-FABCF3FEA723}"/>
              </a:ext>
            </a:extLst>
          </p:cNvPr>
          <p:cNvSpPr txBox="1"/>
          <p:nvPr/>
        </p:nvSpPr>
        <p:spPr>
          <a:xfrm>
            <a:off x="655320" y="3400452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000" dirty="0"/>
              <a:t>User input: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24478B1-86CB-BC81-3771-EC48C0F870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1" y="2221990"/>
            <a:ext cx="4937180" cy="44043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6A0C397-2EA3-B83A-EA11-DC9BF6CB7B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19" y="2716978"/>
            <a:ext cx="2853355" cy="54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746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856F0-B294-1F13-E6B7-886A07325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Example: Lift generated by cylinder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81D14F-626A-2239-04A9-D7EE17617F56}"/>
              </a:ext>
            </a:extLst>
          </p:cNvPr>
          <p:cNvSpPr txBox="1"/>
          <p:nvPr/>
        </p:nvSpPr>
        <p:spPr>
          <a:xfrm rot="16200000">
            <a:off x="2467190" y="3460297"/>
            <a:ext cx="978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Error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7D0177-13E2-D4EA-5049-ECF903ABC599}"/>
              </a:ext>
            </a:extLst>
          </p:cNvPr>
          <p:cNvSpPr txBox="1"/>
          <p:nvPr/>
        </p:nvSpPr>
        <p:spPr>
          <a:xfrm>
            <a:off x="4736591" y="6153236"/>
            <a:ext cx="3550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Number of degrees of freedom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6AD585-453B-C9C8-18A4-3E6C53D978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05"/>
          <a:stretch>
            <a:fillRect/>
          </a:stretch>
        </p:blipFill>
        <p:spPr>
          <a:xfrm>
            <a:off x="3141060" y="1591052"/>
            <a:ext cx="5909880" cy="456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816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DE02-A8C3-023B-C3D1-CC997F3F3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E1420-617D-BE06-9964-45C992AD0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Example: Lift generated by cylinder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8F60E6-9CD2-7AED-3681-52340477E8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99" b="35200"/>
          <a:stretch>
            <a:fillRect/>
          </a:stretch>
        </p:blipFill>
        <p:spPr>
          <a:xfrm>
            <a:off x="541119" y="1690688"/>
            <a:ext cx="6390033" cy="44439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6CA9F2-DEEE-E0BA-470C-D4497170C0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29" t="66481" r="19174"/>
          <a:stretch>
            <a:fillRect/>
          </a:stretch>
        </p:blipFill>
        <p:spPr>
          <a:xfrm>
            <a:off x="6858000" y="2563101"/>
            <a:ext cx="5065776" cy="260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014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6D239-FCD1-B46E-B390-EFCFE63A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Extension: Eigenvalue problems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1B3AE4-558E-5C97-44AE-A216822388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258567"/>
                <a:ext cx="10515600" cy="391839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:r>
                  <a:rPr lang="en-GB" sz="2000" dirty="0"/>
                  <a:t>Given PDE eigenvalue problem, target eigenvalue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𝑡𝑎𝑟𝑔𝑒𝑡</m:t>
                        </m:r>
                      </m:sub>
                    </m:sSub>
                  </m:oMath>
                </a14:m>
                <a:r>
                  <a:rPr lang="en-GB" sz="2000" dirty="0"/>
                  <a:t>, and </a:t>
                </a:r>
                <a:r>
                  <a:rPr lang="en-GB" sz="2000" i="1" dirty="0"/>
                  <a:t>tolerance:</a:t>
                </a:r>
                <a:endParaRPr lang="en-GB" sz="2000" dirty="0"/>
              </a:p>
              <a:p>
                <a:r>
                  <a:rPr lang="en-GB" sz="2000" dirty="0">
                    <a:solidFill>
                      <a:schemeClr val="accent6"/>
                    </a:solidFill>
                  </a:rPr>
                  <a:t>Estimate global error </a:t>
                </a:r>
                <a:r>
                  <a:rPr lang="en-GB" sz="2000" dirty="0"/>
                  <a:t>in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n-GB" sz="2000" dirty="0"/>
              </a:p>
              <a:p>
                <a:r>
                  <a:rPr lang="en-GB" sz="2000" dirty="0">
                    <a:solidFill>
                      <a:srgbClr val="00B0F0"/>
                    </a:solidFill>
                  </a:rPr>
                  <a:t>Control this error </a:t>
                </a:r>
                <a:r>
                  <a:rPr lang="en-GB" sz="2000" dirty="0"/>
                  <a:t>through refinement</a:t>
                </a:r>
              </a:p>
              <a:p>
                <a:endParaRPr lang="en-GB" sz="2000" dirty="0"/>
              </a:p>
              <a:p>
                <a:endParaRPr lang="en-GB" sz="2000" dirty="0"/>
              </a:p>
              <a:p>
                <a:r>
                  <a:rPr lang="en-GB" sz="2000" dirty="0"/>
                  <a:t>Similar local error structure (but you must consider both primal and adjoint error for non symmetric problems)</a:t>
                </a:r>
              </a:p>
              <a:p>
                <a:pPr marL="0" indent="0">
                  <a:buNone/>
                </a:pPr>
                <a:endParaRPr lang="en-GB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1B3AE4-558E-5C97-44AE-A216822388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258567"/>
                <a:ext cx="10515600" cy="3918395"/>
              </a:xfrm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8CFED41-1640-3A49-9A22-39FFFDC1A798}"/>
                  </a:ext>
                </a:extLst>
              </p:cNvPr>
              <p:cNvSpPr txBox="1"/>
              <p:nvPr/>
            </p:nvSpPr>
            <p:spPr>
              <a:xfrm>
                <a:off x="3813048" y="1615313"/>
                <a:ext cx="4565904" cy="9697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 sz="2000" dirty="0"/>
                  <a:t>Find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sz="2000" b="0" i="1" dirty="0">
                    <a:latin typeface="Cambria Math" panose="02040503050406030204" pitchFamily="18" charset="0"/>
                  </a:rPr>
                  <a:t> </a:t>
                </a:r>
                <a:r>
                  <a:rPr lang="en-GB" sz="2000" dirty="0"/>
                  <a:t>such that: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, 	for all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endParaRPr lang="en-GB" sz="2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8CFED41-1640-3A49-9A22-39FFFDC1A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048" y="1615313"/>
                <a:ext cx="4565904" cy="969753"/>
              </a:xfrm>
              <a:prstGeom prst="rect">
                <a:avLst/>
              </a:prstGeom>
              <a:blipFill>
                <a:blip r:embed="rId3"/>
                <a:stretch>
                  <a:fillRect l="-1469" b="-10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B189FA50-F936-8780-BC63-B4AECF4723BF}"/>
              </a:ext>
            </a:extLst>
          </p:cNvPr>
          <p:cNvSpPr/>
          <p:nvPr/>
        </p:nvSpPr>
        <p:spPr>
          <a:xfrm>
            <a:off x="3657600" y="1690688"/>
            <a:ext cx="4721352" cy="969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A7A36B-D440-1336-38A5-E8FD91B2C0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8956" y="5693621"/>
            <a:ext cx="5658640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824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FDF57-48AE-79CC-3E8D-AEFC41949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Example: Maxwell eigenvalue problem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69C55D-DA00-970B-6D74-E2B0C51D9FBE}"/>
              </a:ext>
            </a:extLst>
          </p:cNvPr>
          <p:cNvSpPr txBox="1"/>
          <p:nvPr/>
        </p:nvSpPr>
        <p:spPr>
          <a:xfrm>
            <a:off x="661880" y="3537257"/>
            <a:ext cx="32529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000" dirty="0"/>
              <a:t>User input:</a:t>
            </a:r>
          </a:p>
          <a:p>
            <a:pPr marL="0" indent="0">
              <a:buNone/>
            </a:pPr>
            <a:endParaRPr lang="en-GB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59B1598-7C36-1448-C870-FD94EAFB4C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9"/>
          <a:stretch>
            <a:fillRect/>
          </a:stretch>
        </p:blipFill>
        <p:spPr>
          <a:xfrm>
            <a:off x="5853768" y="1575979"/>
            <a:ext cx="5794898" cy="497824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03E59C-11D0-B010-2760-4B630F63B9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489" b="60342"/>
          <a:stretch>
            <a:fillRect/>
          </a:stretch>
        </p:blipFill>
        <p:spPr>
          <a:xfrm>
            <a:off x="624391" y="1994473"/>
            <a:ext cx="4486440" cy="3889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B7053FF-5005-FED1-0A1E-6046636A9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915" y="3956408"/>
            <a:ext cx="5102853" cy="24365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B189ACC-EA3A-F889-D863-723DC64F75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" t="58055" r="-192" b="2287"/>
          <a:stretch>
            <a:fillRect/>
          </a:stretch>
        </p:blipFill>
        <p:spPr>
          <a:xfrm>
            <a:off x="0" y="2383449"/>
            <a:ext cx="4486440" cy="76483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E64B214-1CA1-3CF9-076C-3F7FD512FA39}"/>
              </a:ext>
            </a:extLst>
          </p:cNvPr>
          <p:cNvSpPr txBox="1"/>
          <p:nvPr/>
        </p:nvSpPr>
        <p:spPr>
          <a:xfrm>
            <a:off x="711676" y="1690688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000" dirty="0"/>
              <a:t>Problem:</a:t>
            </a:r>
          </a:p>
        </p:txBody>
      </p:sp>
    </p:spTree>
    <p:extLst>
      <p:ext uri="{BB962C8B-B14F-4D97-AF65-F5344CB8AC3E}">
        <p14:creationId xmlns:p14="http://schemas.microsoft.com/office/powerpoint/2010/main" val="3899314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B1F91-C4D6-D141-8564-805D229DC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Example: Maxwell eigenvalue problem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2E700D-A746-FE01-5041-EBF7F315869C}"/>
              </a:ext>
            </a:extLst>
          </p:cNvPr>
          <p:cNvSpPr txBox="1"/>
          <p:nvPr/>
        </p:nvSpPr>
        <p:spPr>
          <a:xfrm rot="16200000">
            <a:off x="598170" y="3441397"/>
            <a:ext cx="978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Error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2FFFD2-0F8B-D549-651F-93C23EB4ED32}"/>
              </a:ext>
            </a:extLst>
          </p:cNvPr>
          <p:cNvSpPr txBox="1"/>
          <p:nvPr/>
        </p:nvSpPr>
        <p:spPr>
          <a:xfrm>
            <a:off x="4594859" y="6123543"/>
            <a:ext cx="3550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Number of degrees of freedom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F796315-230C-B94B-6F26-95859CF380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9" t="9035" r="5482"/>
          <a:stretch>
            <a:fillRect/>
          </a:stretch>
        </p:blipFill>
        <p:spPr>
          <a:xfrm>
            <a:off x="1336548" y="1690688"/>
            <a:ext cx="9116568" cy="452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65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FC130-1B92-CC49-4F69-4EE7152DA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414535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ED5CB-5E5B-B1B9-0D87-C98B615B5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Example: Poisson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339B7AB-487B-077C-188C-6A1829EC590E}"/>
                  </a:ext>
                </a:extLst>
              </p:cNvPr>
              <p:cNvSpPr txBox="1"/>
              <p:nvPr/>
            </p:nvSpPr>
            <p:spPr>
              <a:xfrm>
                <a:off x="4061841" y="2413646"/>
                <a:ext cx="2878074" cy="5356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l-G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 </m:t>
                        </m:r>
                        <m:nary>
                          <m:nary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23"/>
                              </m:rPr>
                              <a:rPr lang="el-G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</m:sub>
                          <m:sup/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𝑓𝑣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e>
                    </m:nary>
                  </m:oMath>
                </a14:m>
                <a:r>
                  <a:rPr lang="en-GB" sz="2000" dirty="0"/>
                  <a:t>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339B7AB-487B-077C-188C-6A1829EC5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1841" y="2413646"/>
                <a:ext cx="2878074" cy="535659"/>
              </a:xfrm>
              <a:prstGeom prst="rect">
                <a:avLst/>
              </a:prstGeom>
              <a:blipFill>
                <a:blip r:embed="rId2"/>
                <a:stretch>
                  <a:fillRect r="-91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E55DEF-A12C-0CC0-0435-B7E9DB7AF59B}"/>
                  </a:ext>
                </a:extLst>
              </p:cNvPr>
              <p:cNvSpPr txBox="1"/>
              <p:nvPr/>
            </p:nvSpPr>
            <p:spPr>
              <a:xfrm>
                <a:off x="3356228" y="3460478"/>
                <a:ext cx="4690491" cy="5356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l-G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GB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 </m:t>
                        </m:r>
                        <m:nary>
                          <m:nary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23"/>
                              </m:rPr>
                              <a:rPr lang="el-G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</m:sub>
                          <m:sup/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𝑓𝑣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e>
                    </m:nary>
                    <m:nary>
                      <m:nary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l-G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GB" sz="2000" dirty="0"/>
                  <a:t> 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E55DEF-A12C-0CC0-0435-B7E9DB7AF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6228" y="3460478"/>
                <a:ext cx="4690491" cy="5356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93592EB-0277-8C71-87AA-9DAFF93B4413}"/>
                  </a:ext>
                </a:extLst>
              </p:cNvPr>
              <p:cNvSpPr txBox="1"/>
              <p:nvPr/>
            </p:nvSpPr>
            <p:spPr>
              <a:xfrm>
                <a:off x="3745611" y="4480922"/>
                <a:ext cx="324040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93592EB-0277-8C71-87AA-9DAFF93B4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5611" y="4480922"/>
                <a:ext cx="3240405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AB43505-F0EF-6458-9392-0CD8CC5C035F}"/>
                  </a:ext>
                </a:extLst>
              </p:cNvPr>
              <p:cNvSpPr txBox="1"/>
              <p:nvPr/>
            </p:nvSpPr>
            <p:spPr>
              <a:xfrm>
                <a:off x="2453640" y="1690688"/>
                <a:ext cx="609447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GB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AB43505-F0EF-6458-9392-0CD8CC5C0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3640" y="1690688"/>
                <a:ext cx="6094476" cy="4001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A107441-812D-352B-0BA7-FB576118597D}"/>
                  </a:ext>
                </a:extLst>
              </p:cNvPr>
              <p:cNvSpPr txBox="1"/>
              <p:nvPr/>
            </p:nvSpPr>
            <p:spPr>
              <a:xfrm>
                <a:off x="8631935" y="2549195"/>
                <a:ext cx="226771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For all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GB" sz="2000" dirty="0"/>
                  <a:t> in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sz="2000" dirty="0"/>
                  <a:t>  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A107441-812D-352B-0BA7-FB5761185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935" y="2549195"/>
                <a:ext cx="2267713" cy="400110"/>
              </a:xfrm>
              <a:prstGeom prst="rect">
                <a:avLst/>
              </a:prstGeom>
              <a:blipFill>
                <a:blip r:embed="rId6"/>
                <a:stretch>
                  <a:fillRect l="-2688" t="-6061" b="-27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AF3EC56-4DC4-8115-0FE1-42616D3A4CBF}"/>
                  </a:ext>
                </a:extLst>
              </p:cNvPr>
              <p:cNvSpPr txBox="1"/>
              <p:nvPr/>
            </p:nvSpPr>
            <p:spPr>
              <a:xfrm>
                <a:off x="8631933" y="3528252"/>
                <a:ext cx="226771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For all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GB" sz="2000" dirty="0"/>
                  <a:t> in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sz="2000" dirty="0"/>
                  <a:t>  </a:t>
                </a: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AF3EC56-4DC4-8115-0FE1-42616D3A4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933" y="3528252"/>
                <a:ext cx="2267713" cy="400110"/>
              </a:xfrm>
              <a:prstGeom prst="rect">
                <a:avLst/>
              </a:prstGeom>
              <a:blipFill>
                <a:blip r:embed="rId7"/>
                <a:stretch>
                  <a:fillRect l="-2688" t="-7692" b="-29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1A29A6A-A16E-8CC7-7AE4-BE1448516E22}"/>
                  </a:ext>
                </a:extLst>
              </p:cNvPr>
              <p:cNvSpPr txBox="1"/>
              <p:nvPr/>
            </p:nvSpPr>
            <p:spPr>
              <a:xfrm>
                <a:off x="8631933" y="4480922"/>
                <a:ext cx="226771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For all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GB" sz="2000" dirty="0"/>
                  <a:t> in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sz="2000" dirty="0"/>
                  <a:t>  </a:t>
                </a: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1A29A6A-A16E-8CC7-7AE4-BE1448516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933" y="4480922"/>
                <a:ext cx="2267713" cy="400110"/>
              </a:xfrm>
              <a:prstGeom prst="rect">
                <a:avLst/>
              </a:prstGeom>
              <a:blipFill>
                <a:blip r:embed="rId8"/>
                <a:stretch>
                  <a:fillRect l="-2688" t="-6061" b="-27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1193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12837</TotalTime>
  <Words>599</Words>
  <Application>Microsoft Office PowerPoint</Application>
  <PresentationFormat>Widescreen</PresentationFormat>
  <Paragraphs>145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Office Theme</vt:lpstr>
      <vt:lpstr>Automating goal-based adaptive mesh refinement for engineering problems</vt:lpstr>
      <vt:lpstr>Motivation: Engineering simulation</vt:lpstr>
      <vt:lpstr>Background: Finite element methods</vt:lpstr>
      <vt:lpstr>Solution: Goal-based adaptive meshing</vt:lpstr>
      <vt:lpstr>How to estimate η_h? (Global error estimate)</vt:lpstr>
      <vt:lpstr>How to obtain η_k? (Local error indicator)</vt:lpstr>
      <vt:lpstr>Automated local error indicators</vt:lpstr>
      <vt:lpstr>Automated algorithm</vt:lpstr>
      <vt:lpstr>Implementation (Firedrake)</vt:lpstr>
      <vt:lpstr>User input</vt:lpstr>
      <vt:lpstr>Example: Lift generated by cylinder</vt:lpstr>
      <vt:lpstr>Example: Lift generated by cylinder</vt:lpstr>
      <vt:lpstr>Example: Lift generated by cylinder</vt:lpstr>
      <vt:lpstr>Extension: Eigenvalue problems</vt:lpstr>
      <vt:lpstr>Example: Maxwell eigenvalue problem</vt:lpstr>
      <vt:lpstr>Example: Maxwell eigenvalue problem</vt:lpstr>
      <vt:lpstr>Questions?</vt:lpstr>
      <vt:lpstr>Example: Poisson equation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Flood</dc:creator>
  <cp:lastModifiedBy>Flood, Joseph (UK)</cp:lastModifiedBy>
  <cp:revision>37</cp:revision>
  <dcterms:created xsi:type="dcterms:W3CDTF">2026-03-16T18:02:10Z</dcterms:created>
  <dcterms:modified xsi:type="dcterms:W3CDTF">2026-03-25T16:40:45Z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ac884d6-46ec-40ca-a4e4-d9a7c6a7c5c9_Enabled">
    <vt:lpwstr>true</vt:lpwstr>
  </property>
  <property fmtid="{D5CDD505-2E9C-101B-9397-08002B2CF9AE}" pid="3" name="MSIP_Label_aac884d6-46ec-40ca-a4e4-d9a7c6a7c5c9_SetDate">
    <vt:lpwstr>2026-03-25T08:13:07Z</vt:lpwstr>
  </property>
  <property fmtid="{D5CDD505-2E9C-101B-9397-08002B2CF9AE}" pid="4" name="MSIP_Label_aac884d6-46ec-40ca-a4e4-d9a7c6a7c5c9_Method">
    <vt:lpwstr>Privileged</vt:lpwstr>
  </property>
  <property fmtid="{D5CDD505-2E9C-101B-9397-08002B2CF9AE}" pid="5" name="MSIP_Label_aac884d6-46ec-40ca-a4e4-d9a7c6a7c5c9_Name">
    <vt:lpwstr>Unrestricted</vt:lpwstr>
  </property>
  <property fmtid="{D5CDD505-2E9C-101B-9397-08002B2CF9AE}" pid="6" name="MSIP_Label_aac884d6-46ec-40ca-a4e4-d9a7c6a7c5c9_SiteId">
    <vt:lpwstr>3465c5b6-dc75-4b16-8bc3-8e00d98d1b0d</vt:lpwstr>
  </property>
  <property fmtid="{D5CDD505-2E9C-101B-9397-08002B2CF9AE}" pid="7" name="MSIP_Label_aac884d6-46ec-40ca-a4e4-d9a7c6a7c5c9_ActionId">
    <vt:lpwstr>c8a09287-8ecd-4749-8fc4-da005e40ec56</vt:lpwstr>
  </property>
  <property fmtid="{D5CDD505-2E9C-101B-9397-08002B2CF9AE}" pid="8" name="MSIP_Label_aac884d6-46ec-40ca-a4e4-d9a7c6a7c5c9_ContentBits">
    <vt:lpwstr>0</vt:lpwstr>
  </property>
  <property fmtid="{D5CDD505-2E9C-101B-9397-08002B2CF9AE}" pid="9" name="MSIP_Label_aac884d6-46ec-40ca-a4e4-d9a7c6a7c5c9_Tag">
    <vt:lpwstr>10, 0, 1, 1</vt:lpwstr>
  </property>
</Properties>
</file>